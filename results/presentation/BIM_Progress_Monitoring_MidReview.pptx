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09728" cy="1463040"/>
          </a:xfrm>
          <a:prstGeom prst="rect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8354"/>
                </a:solidFill>
                <a:latin typeface="IBM Plex Mono"/>
              </a:rPr>
              <a:t>MID-TERM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8E6E1"/>
                </a:solidFill>
                <a:latin typeface="IBM Plex Sans"/>
              </a:rPr>
              <a:t>BIM-Based Construction Progress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8E6E1"/>
                </a:solidFill>
                <a:latin typeface="IBM Plex Sans"/>
              </a:rPr>
              <a:t>Monitoring via Drone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0A8"/>
                </a:solidFill>
                <a:latin typeface="IBM Plex Sans"/>
              </a:rPr>
              <a:t>Synthetic drone point clouds · BIM-registration matching · automated per-element progress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Sagar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1264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A BIM tells you what SHOULD be built — not what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>
                <a:solidFill>
                  <a:srgbClr val="EF8354"/>
                </a:solidFill>
                <a:latin typeface="IBM Plex Sans"/>
              </a:rPr>
              <a:t>▪  </a:t>
            </a:r>
            <a:r>
              <a:rPr sz="1600">
                <a:solidFill>
                  <a:srgbClr val="E8E6E1"/>
                </a:solidFill>
                <a:latin typeface="IBM Plex Sans"/>
              </a:rPr>
              <a:t>A design BIM encodes intended geometry: every wall, slab, beam and column, exactly as planned.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>
                <a:solidFill>
                  <a:srgbClr val="EF8354"/>
                </a:solidFill>
                <a:latin typeface="IBM Plex Sans"/>
              </a:rPr>
              <a:t>▪  </a:t>
            </a:r>
            <a:r>
              <a:rPr sz="1600">
                <a:solidFill>
                  <a:srgbClr val="E8E6E1"/>
                </a:solidFill>
                <a:latin typeface="IBM Plex Sans"/>
              </a:rPr>
              <a:t>It says nothing about what has actually been constructed on site.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>
                <a:solidFill>
                  <a:srgbClr val="EF8354"/>
                </a:solidFill>
                <a:latin typeface="IBM Plex Sans"/>
              </a:rPr>
              <a:t>▪  </a:t>
            </a:r>
            <a:r>
              <a:rPr sz="1600">
                <a:solidFill>
                  <a:srgbClr val="E8E6E1"/>
                </a:solidFill>
                <a:latin typeface="IBM Plex Sans"/>
              </a:rPr>
              <a:t>Manual progress inspection (walkthroughs, photos, spreadsheets) does not scale to large or fast-moving sites.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>
                <a:solidFill>
                  <a:srgbClr val="EF8354"/>
                </a:solidFill>
                <a:latin typeface="IBM Plex Sans"/>
              </a:rPr>
              <a:t>▪  </a:t>
            </a:r>
            <a:r>
              <a:rPr sz="1600">
                <a:solidFill>
                  <a:srgbClr val="E8E6E1"/>
                </a:solidFill>
                <a:latin typeface="IBM Plex Sans"/>
              </a:rPr>
              <a:t>Research question: can drone-collected point cloud data automatically determine which BIM elements are built, and from that estimate overall project progress?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WHY SIMULATION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On a real site, the true completion state is never known exactly — you can't separate detection error from matching error from scoring error.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In simulation, the completion state is controlled exactly by construction.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This makes it possible to produce error-vs-completion curves that are impossible to produce on real data — that controllability is the core contribution.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End-to-end pipeline,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962302" cy="173736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 w="12700">
            <a:solidFill>
              <a:srgbClr val="33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9623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7794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E6E1"/>
                </a:solidFill>
                <a:latin typeface="IBM Plex Sans"/>
              </a:rPr>
              <a:t>Parse BIM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77942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IFC → ground-truth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element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0982" y="2103120"/>
            <a:ext cx="1962302" cy="173736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 w="12700">
            <a:solidFill>
              <a:srgbClr val="33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0982" y="2240280"/>
            <a:ext cx="19623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2422" y="2560320"/>
            <a:ext cx="17794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E6E1"/>
                </a:solidFill>
                <a:latin typeface="IBM Plex Sans"/>
              </a:rPr>
              <a:t>Ablate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422" y="2971800"/>
            <a:ext cx="177942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Realistic partial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build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3324" y="2103120"/>
            <a:ext cx="1962302" cy="173736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 w="12700">
            <a:solidFill>
              <a:srgbClr val="33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13324" y="2240280"/>
            <a:ext cx="19623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4764" y="2560320"/>
            <a:ext cx="17794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E6E1"/>
                </a:solidFill>
                <a:latin typeface="IBM Plex Sans"/>
              </a:rPr>
              <a:t>Simulate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4764" y="2971800"/>
            <a:ext cx="177942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Raycast drone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point clouds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5666" y="2103120"/>
            <a:ext cx="1962302" cy="173736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 w="12700">
            <a:solidFill>
              <a:srgbClr val="33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95666" y="2240280"/>
            <a:ext cx="19623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7106" y="2560320"/>
            <a:ext cx="17794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E6E1"/>
                </a:solidFill>
                <a:latin typeface="IBM Plex Sans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7106" y="2971800"/>
            <a:ext cx="177942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Register + assign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points to elements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8008" y="2103120"/>
            <a:ext cx="1962302" cy="173736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 w="12700">
            <a:solidFill>
              <a:srgbClr val="33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78008" y="2240280"/>
            <a:ext cx="19623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9448" y="2560320"/>
            <a:ext cx="17794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E6E1"/>
                </a:solidFill>
                <a:latin typeface="IBM Plex Sans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9448" y="2971800"/>
            <a:ext cx="177942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Per-element status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→ progress %</a:t>
            </a:r>
          </a:p>
        </p:txBody>
      </p:sp>
      <p:sp>
        <p:nvSpPr>
          <p:cNvPr id="27" name="Chevron 26"/>
          <p:cNvSpPr/>
          <p:nvPr/>
        </p:nvSpPr>
        <p:spPr>
          <a:xfrm>
            <a:off x="2510942" y="2862072"/>
            <a:ext cx="320040" cy="219456"/>
          </a:xfrm>
          <a:prstGeom prst="chevron">
            <a:avLst/>
          </a:prstGeom>
          <a:solidFill>
            <a:srgbClr val="5E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evron 27"/>
          <p:cNvSpPr/>
          <p:nvPr/>
        </p:nvSpPr>
        <p:spPr>
          <a:xfrm>
            <a:off x="4793284" y="2862072"/>
            <a:ext cx="320040" cy="219456"/>
          </a:xfrm>
          <a:prstGeom prst="chevron">
            <a:avLst/>
          </a:prstGeom>
          <a:solidFill>
            <a:srgbClr val="5E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7075626" y="2862072"/>
            <a:ext cx="320040" cy="219456"/>
          </a:xfrm>
          <a:prstGeom prst="chevron">
            <a:avLst/>
          </a:prstGeom>
          <a:solidFill>
            <a:srgbClr val="5E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evron 29"/>
          <p:cNvSpPr/>
          <p:nvPr/>
        </p:nvSpPr>
        <p:spPr>
          <a:xfrm>
            <a:off x="9357968" y="2862072"/>
            <a:ext cx="320040" cy="219456"/>
          </a:xfrm>
          <a:prstGeom prst="chevron">
            <a:avLst/>
          </a:prstGeom>
          <a:solidFill>
            <a:srgbClr val="5E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SCOPE DECISION vs. THE ORIGINAL SPEC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8463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Original spec routed through Blender-rendered RGB/depth/index images, then a learned/oracle 2D detector, then 3D fusion and Hungarian matching.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v1 goes straight from BIM to a raycast-simulated point cloud (Open3D), then matches points directly against the known design BIM via ICP registration — a leaner, classical scan-vs-BIM approach (Bosché &amp; Haas 2008/2009) that skips the image pipeline entirely.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Schependomlaan — design BIM as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IN-SCOPE STRUCTURAL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261872" cy="118872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1261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C78A8"/>
                </a:solidFill>
                <a:latin typeface="IBM Plex Mono"/>
              </a:rPr>
              <a:t>879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78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103120"/>
            <a:ext cx="1261872" cy="118872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2212848"/>
            <a:ext cx="1261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8518"/>
                </a:solidFill>
                <a:latin typeface="IBM Plex Mono"/>
              </a:rPr>
              <a:t>279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1078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Slab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03120"/>
            <a:ext cx="1261872" cy="118872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2212848"/>
            <a:ext cx="1261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4A24B"/>
                </a:solidFill>
                <a:latin typeface="IBM Plex Mono"/>
              </a:rPr>
              <a:t>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1078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Beam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103120"/>
            <a:ext cx="1261872" cy="118872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212848"/>
            <a:ext cx="1261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45756"/>
                </a:solidFill>
                <a:latin typeface="IBM Plex Mono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26080"/>
            <a:ext cx="1078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Column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103120"/>
            <a:ext cx="1261872" cy="118872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2212848"/>
            <a:ext cx="1261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8E6E1"/>
                </a:solidFill>
                <a:latin typeface="IBM Plex Mono"/>
              </a:rPr>
              <a:t>1,355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26080"/>
            <a:ext cx="1078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118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Dutch residential project, TU Eindhoven / RAAMAC — IFC2x3 design model from Archicad.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Low-rise residential typology: walls and slabs dominate; columns are sparse (23 total).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Doors, windows, MEP — out of scope, per spec.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Sanity check: the Synchro-exported weekly as-planned IFCs reassign GlobalIds — 0% overlap with the design IFC's identities.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→ real multi-week ground truth unusable for element identity; fully synthetic staged ablation built instead.</a:t>
            </a:r>
          </a:p>
        </p:txBody>
      </p:sp>
      <p:pic>
        <p:nvPicPr>
          <p:cNvPr id="24" name="Picture 23" descr="design_bim.png"/>
          <p:cNvPicPr>
            <a:picLocks noChangeAspect="1"/>
          </p:cNvPicPr>
          <p:nvPr/>
        </p:nvPicPr>
        <p:blipFill>
          <a:blip r:embed="rId2"/>
          <a:srcRect l="23333" t="3781" r="20667"/>
          <a:stretch>
            <a:fillRect/>
          </a:stretch>
        </p:blipFill>
        <p:spPr>
          <a:xfrm>
            <a:off x="7342632" y="2415107"/>
            <a:ext cx="4614786" cy="380281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Parsing the BIM into a canonical ground-truth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Per in-scope element, extracted directly from IFC geometry (world coordinates):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9AA0A8"/>
                </a:solidFill>
                <a:latin typeface="IBM Plex Sans"/>
              </a:rPr>
              <a:t>     -  global_id, ifc_type, storey (via spatial containment, not the mm-scaled Elevation attribute)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9AA0A8"/>
                </a:solidFill>
                <a:latin typeface="IBM Plex Sans"/>
              </a:rPr>
              <a:t>     -  centroid, axis-aligned bounding box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9AA0A8"/>
                </a:solidFill>
                <a:latin typeface="IBM Plex Sans"/>
              </a:rPr>
              <a:t>     -  Z-aligned oriented bounding box — PCA in the XY plane, since an AABB alone is a poor descriptor for a wall at 45°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9AA0A8"/>
                </a:solidFill>
                <a:latin typeface="IBM Plex Sans"/>
              </a:rPr>
              <a:t>     -  mesh volume, elevation_bottom (drives build-order sequencing later)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IfcWallStandardCase is already a subtype returned by IfcWall's by_type() — verified 100% overlap, counted once.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Output: data/bim/bim_complete.csv — 1,355 rows, zero NaNs.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5</a:t>
            </a:r>
          </a:p>
        </p:txBody>
      </p:sp>
      <p:pic>
        <p:nvPicPr>
          <p:cNvPr id="12" name="Picture 11" descr="design_bim.png">
            <a:extLst>
              <a:ext uri="{FF2B5EF4-FFF2-40B4-BE49-F238E27FC236}">
                <a16:creationId xmlns:a16="http://schemas.microsoft.com/office/drawing/2014/main" id="{AEA0B932-87A5-9965-B06B-A3112886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33" t="3781" r="20667"/>
          <a:stretch>
            <a:fillRect/>
          </a:stretch>
        </p:blipFill>
        <p:spPr>
          <a:xfrm>
            <a:off x="6805974" y="1994318"/>
            <a:ext cx="4614786" cy="38028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Generating realistic incomplete build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MILESTONE MODEL (per storey, bottom-up)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394960" cy="77724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359152"/>
            <a:ext cx="256032" cy="256032"/>
          </a:xfrm>
          <a:prstGeom prst="ellipse">
            <a:avLst/>
          </a:prstGeom>
          <a:solidFill>
            <a:srgbClr val="E45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1.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8716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Columns + beams + slab poured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394960" cy="77724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273552"/>
            <a:ext cx="256032" cy="256032"/>
          </a:xfrm>
          <a:prstGeom prst="ellipse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2. envelope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0156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Exterior walls erected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394960" cy="77724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187952"/>
            <a:ext cx="256032" cy="256032"/>
          </a:xfrm>
          <a:prstGeom prst="ellipse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023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3. interior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1596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Interior partition walls built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A storey without a milestone (e.g. foundation has no interior walls) simply skips it — stage count falls out of the data, isn't a fixed target.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Within a milestone: elements ordered by (x, y) for a contiguous work front, then 8% of adjacent pairs swapped (seeded) so the boundary isn't razor-sharp.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Partial completion: 50% chance a newly-appearing wall/column is height-clipped to 25–85% of final height — "poured but not finished", not a clean binary.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Cross-checked against the real Planning/XML schedule: confirms bottom-up per-storey sequencing.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Result: 16 real construction stages, foundation → roof envelope, each with a manifest.json ground truth.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Simulating drone point clouds per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Open3D raycasting instead of Blender for v1 — a deliberate scoping decision, documented in code.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Camera scheme: exterior drone orbit + per-floor interior walkthrough, Fibonacci-sphere view sampling (avoids grid-aliasing rings a uniform grid would leave).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Only first-hit rays kept — not uniform surface sampling — so the cloud looks like something an actual sensor could produce.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Realism degradations applied per stage: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sensor noise (Gaussian, fixed σ)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15% random point dropout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per-element pose jitter (as-built deviates slightly from as-designed)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9AA0A8"/>
                </a:solidFill>
                <a:latin typeface="IBM Plex Sans"/>
              </a:rPr>
              <a:t>     -  whole-scene rigid registration-offset jitter (mimics imperfect pre-alignment)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EF8354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Fixed ground plane + trees shared across all stages, as realistic clutter.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16 STAGES SIMULATED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00 Foundation — structure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01 Foundation — envelope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02–04 Ground floor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05–07 1st floor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08–10 2nd floor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11–13 3rd floor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>
                <a:solidFill>
                  <a:srgbClr val="5EC8F2"/>
                </a:solidFill>
                <a:latin typeface="IBM Plex Sans"/>
              </a:rPr>
              <a:t>▪  </a:t>
            </a:r>
            <a:r>
              <a:rPr sz="1400">
                <a:solidFill>
                  <a:srgbClr val="E8E6E1"/>
                </a:solidFill>
                <a:latin typeface="IBM Plex Sans"/>
              </a:rPr>
              <a:t>14–15 Roof — structure/envelope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4 — FIRST ATTEMPT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Classical geometric segmentation (RANSAC + DBSCAN)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Purely geometric, blind discovery — no BIM knowledge used at this stage: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>
                <a:solidFill>
                  <a:srgbClr val="9AA0A8"/>
                </a:solidFill>
                <a:latin typeface="IBM Plex Sans"/>
              </a:rPr>
              <a:t>     -  iterative RANSAC plane extraction, DBSCAN within each plane to split spatially separate coplanar instances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>
                <a:solidFill>
                  <a:srgbClr val="9AA0A8"/>
                </a:solidFill>
                <a:latin typeface="IBM Plex Sans"/>
              </a:rPr>
              <a:t>     -  normal angle classifies wall vs. slab; residual non-planar points get their own DBSCAN pass, classified by PCA aspect ratio into column / beam / clutter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This is the classical replacement for the spec's image-based detection + 3D localisation phases (P4+P5 combined).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EVAL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EF8354"/>
                </a:solidFill>
                <a:latin typeface="IBM Plex Sans"/>
              </a:rPr>
              <a:t>▪  </a:t>
            </a:r>
            <a:r>
              <a:rPr sz="1350">
                <a:solidFill>
                  <a:srgbClr val="E8E6E1"/>
                </a:solidFill>
                <a:latin typeface="IBM Plex Sans"/>
              </a:rPr>
              <a:t>High clutter leakage and element split/merge rates, especially at early and late stages — repetitive, coplanar structures (rows of identical walls) confuse blind clustering.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EF8354"/>
                </a:solidFill>
                <a:latin typeface="IBM Plex Sans"/>
              </a:rPr>
              <a:t>▪  </a:t>
            </a:r>
            <a:r>
              <a:rPr sz="1350">
                <a:solidFill>
                  <a:srgbClr val="E8E6E1"/>
                </a:solidFill>
                <a:latin typeface="IBM Plex Sans"/>
              </a:rPr>
              <a:t>Motivated the revised, BIM-aware matching approach (next).</a:t>
            </a:r>
          </a:p>
        </p:txBody>
      </p:sp>
      <p:pic>
        <p:nvPicPr>
          <p:cNvPr id="11" name="Picture 10" descr="p4_segmentation_quality_vs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85505"/>
            <a:ext cx="5303520" cy="28928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4 — REVISED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Direct BIM matching via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E6E1"/>
                </a:solidFill>
                <a:latin typeface="IBM Plex Sans"/>
              </a:rPr>
              <a:t>Key insight: the complete design BIM is always known before construction starts — the task is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E6E1"/>
                </a:solidFill>
                <a:latin typeface="IBM Plex Sans"/>
              </a:rPr>
              <a:t>“which points belong to which known element”, not blind object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1091672" cy="93268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51176"/>
            <a:ext cx="457200" cy="457200"/>
          </a:xfrm>
          <a:prstGeom prst="ellipse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4161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Dense BIM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404872"/>
            <a:ext cx="75895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Every in-scope element's surface sampled once, area-proportional, tagged with its GlobalId — one KD-tree over the whole design, reused unchanged across all 16 stages.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55848"/>
            <a:ext cx="11091672" cy="93268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75304"/>
            <a:ext cx="457200" cy="457200"/>
          </a:xfrm>
          <a:prstGeom prst="ellipse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4161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290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ICP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429000"/>
            <a:ext cx="75895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Per stage, ICP against the BIM sample cloud undoes the synthetic whole-scene misalignment — coarse-filtered first to keep only points already near some BIM surface, so ground/tree clutter can't drag the alignment 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79976"/>
            <a:ext cx="11091672" cy="93268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99432"/>
            <a:ext cx="457200" cy="457200"/>
          </a:xfrm>
          <a:prstGeom prst="ellipse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4161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531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Margin-gated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453128"/>
            <a:ext cx="75895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Nearest-neighbour query per point with a TIGHT distance threshold (matched to sensor noise, not registration jitter — that's already corrected). Points beyond threshold are unassigned: this alone rejects ground/tree/noise, no separate heuristics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04104"/>
            <a:ext cx="11091672" cy="93268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623560"/>
            <a:ext cx="457200" cy="457200"/>
          </a:xfrm>
          <a:prstGeom prst="ellipse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4161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4772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6E1"/>
                </a:solidFill>
                <a:latin typeface="IBM Plex Sans"/>
              </a:rPr>
              <a:t>Per-element aggregation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477256"/>
            <a:ext cx="75895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0A8"/>
                </a:solidFill>
                <a:latin typeface="IBM Plex Sans"/>
              </a:rPr>
              <a:t>Assigned points grouped per GlobalId → point count, centroid, AABB, and height-coverage fraction vs. the element's true height — the completion signal used for scoring.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Per-element status and progress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STATUS RULES (height-coverage based)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394960" cy="56692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945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0A8"/>
                </a:solidFill>
                <a:latin typeface="IBM Plex Sans"/>
              </a:rPr>
              <a:t>height_coverage ≥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8E6E1"/>
                </a:solidFill>
                <a:latin typeface="IBM Plex Mono"/>
              </a:rPr>
              <a:t>Cᵢ = 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61488"/>
            <a:ext cx="5394960" cy="56692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8518"/>
                </a:solidFill>
                <a:latin typeface="IBM Plex Mono"/>
              </a:rPr>
              <a:t>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529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0A8"/>
                </a:solidFill>
                <a:latin typeface="IBM Plex Sans"/>
              </a:rPr>
              <a:t>0.15 ≤ height_coverage &lt;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5292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8E6E1"/>
                </a:solidFill>
                <a:latin typeface="IBM Plex Mono"/>
              </a:rPr>
              <a:t>Cᵢ = height_coverage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19856"/>
            <a:ext cx="5394960" cy="56692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1129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A0A8"/>
                </a:solidFill>
                <a:latin typeface="IBM Plex Mono"/>
              </a:rPr>
              <a:t>not_started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1129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0A8"/>
                </a:solidFill>
                <a:latin typeface="IBM Plex Sans"/>
              </a:rPr>
              <a:t>not detected, but observable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11296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8E6E1"/>
                </a:solidFill>
                <a:latin typeface="IBM Plex Mono"/>
              </a:rPr>
              <a:t>Cᵢ = 0.0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78224"/>
            <a:ext cx="5394960" cy="566928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16966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85E"/>
                </a:solidFill>
                <a:latin typeface="IBM Plex Mono"/>
              </a:rPr>
              <a:t>uncertain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169664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0A8"/>
                </a:solidFill>
                <a:latin typeface="IBM Plex Sans"/>
              </a:rPr>
              <a:t>never observable, any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9664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8E6E1"/>
                </a:solidFill>
                <a:latin typeface="IBM Plex Mono"/>
              </a:rPr>
              <a:t>excluded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EF8354"/>
                </a:solidFill>
                <a:latin typeface="IBM Plex Sans"/>
              </a:rPr>
              <a:t>▪  </a:t>
            </a:r>
            <a:r>
              <a:rPr sz="1350">
                <a:solidFill>
                  <a:srgbClr val="E8E6E1"/>
                </a:solidFill>
                <a:latin typeface="IBM Plex Sans"/>
              </a:rPr>
              <a:t>“Uncertain” exclusion is the critical rule: an element the drone never observed must not be scored as “not built”.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EF8354"/>
                </a:solidFill>
                <a:latin typeface="IBM Plex Sans"/>
              </a:rPr>
              <a:t>▪  </a:t>
            </a:r>
            <a:r>
              <a:rPr sz="1350">
                <a:solidFill>
                  <a:srgbClr val="E8E6E1"/>
                </a:solidFill>
                <a:latin typeface="IBM Plex Sans"/>
              </a:rPr>
              <a:t>Measured: 136/1355 elements (10%) are structurally hard-to-observe at every stage — excluded from scoring, not scored as absent.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EF8354"/>
                </a:solidFill>
                <a:latin typeface="IBM Plex Sans"/>
              </a:rPr>
              <a:t>▪  </a:t>
            </a:r>
            <a:r>
              <a:rPr sz="1350">
                <a:solidFill>
                  <a:srgbClr val="E8E6E1"/>
                </a:solidFill>
                <a:latin typeface="IBM Plex Sans"/>
              </a:rPr>
              <a:t>Progress = Σ(wᵢ·Cᵢ) / Σ(wᵢ) × 100, reported with count weights and volume weights.</a:t>
            </a:r>
          </a:p>
        </p:txBody>
      </p:sp>
      <p:pic>
        <p:nvPicPr>
          <p:cNvPr id="25" name="Picture 24" descr="p7_progress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818311"/>
            <a:ext cx="5303520" cy="22729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Estimated vs. ground-truth progress, across 16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F8354"/>
                </a:solidFill>
                <a:latin typeface="IBM Plex Mono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Stages evaluated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9164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80136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8518"/>
                </a:solidFill>
                <a:latin typeface="IBM Plex Mono"/>
              </a:rPr>
              <a:t>4.7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68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Mean abs. progress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69164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1801368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45756"/>
                </a:solidFill>
                <a:latin typeface="IBM Plex Mono"/>
              </a:rPr>
              <a:t>7.5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68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Max error (mid-build)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691640"/>
            <a:ext cx="3273552" cy="1143000"/>
          </a:xfrm>
          <a:prstGeom prst="roundRect">
            <a:avLst>
              <a:gd name="adj" fmla="val 4000"/>
            </a:avLst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801368"/>
            <a:ext cx="3273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F8354"/>
                </a:solidFill>
                <a:latin typeface="IBM Plex Mono"/>
              </a:rPr>
              <a:t>1.98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0A8"/>
                </a:solidFill>
                <a:latin typeface="IBM Plex Sans"/>
              </a:rPr>
              <a:t>Error at final stage (roof)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20040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F8354"/>
                          </a:solidFill>
                          <a:latin typeface="IBM Plex Mono"/>
                        </a:rPr>
                        <a:t>Stage</a:t>
                      </a:r>
                    </a:p>
                  </a:txBody>
                  <a:tcPr>
                    <a:solidFill>
                      <a:srgbClr val="2A2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F8354"/>
                          </a:solidFill>
                          <a:latin typeface="IBM Plex Mono"/>
                        </a:rPr>
                        <a:t>Est. %</a:t>
                      </a:r>
                    </a:p>
                  </a:txBody>
                  <a:tcPr>
                    <a:solidFill>
                      <a:srgbClr val="2A2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F8354"/>
                          </a:solidFill>
                          <a:latin typeface="IBM Plex Mono"/>
                        </a:rPr>
                        <a:t>GT %</a:t>
                      </a:r>
                    </a:p>
                  </a:txBody>
                  <a:tcPr>
                    <a:solidFill>
                      <a:srgbClr val="2A2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F8354"/>
                          </a:solidFill>
                          <a:latin typeface="IBM Plex Mono"/>
                        </a:rPr>
                        <a:t>Error (pp)</a:t>
                      </a:r>
                    </a:p>
                  </a:txBody>
                  <a:tcPr>
                    <a:solidFill>
                      <a:srgbClr val="2A2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E8E6E1"/>
                          </a:solidFill>
                          <a:latin typeface="IBM Plex Sans"/>
                        </a:rPr>
                        <a:t>00_m1_fundering_structure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7.9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7.9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0.03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E8E6E1"/>
                          </a:solidFill>
                          <a:latin typeface="IBM Plex Sans"/>
                        </a:rPr>
                        <a:t>03_00_begane_grond_envelope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20.6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26.7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6.13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E8E6E1"/>
                          </a:solidFill>
                          <a:latin typeface="IBM Plex Sans"/>
                        </a:rPr>
                        <a:t>07_01_eerste_verdieping_interior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52.6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60.0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7.36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E8E6E1"/>
                          </a:solidFill>
                          <a:latin typeface="IBM Plex Sans"/>
                        </a:rPr>
                        <a:t>11_03_derde_verdieping_structure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85.1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88.9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3.79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E8E6E1"/>
                          </a:solidFill>
                          <a:latin typeface="IBM Plex Sans"/>
                        </a:rPr>
                        <a:t>15_04_dak_envelope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98.0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100.0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E6E1"/>
                          </a:solidFill>
                          <a:latin typeface="IBM Plex Mono"/>
                        </a:rPr>
                        <a:t>1.98</a:t>
                      </a:r>
                    </a:p>
                  </a:txBody>
                  <a:tcPr>
                    <a:solidFill>
                      <a:srgbClr val="1E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Segmentation-after-registration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A second standalone viewer: every raw scan point coloured by which BIM element class it matched to (wall / slab / beam / column), post-ICP — a direct visual read of segmentation quality, not a separate demo run.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50">
                <a:solidFill>
                  <a:srgbClr val="9AA0A8"/>
                </a:solidFill>
                <a:latin typeface="IBM Plex Sans"/>
              </a:rPr>
              <a:t>     -  also supports a per-element “by element” colour toggle, same mechanism shown on the previous slide.</a:t>
            </a:r>
          </a:p>
        </p:txBody>
      </p:sp>
      <p:pic>
        <p:nvPicPr>
          <p:cNvPr id="8" name="Picture 7" descr="segview_class.png"/>
          <p:cNvPicPr>
            <a:picLocks noChangeAspect="1"/>
          </p:cNvPicPr>
          <p:nvPr/>
        </p:nvPicPr>
        <p:blipFill>
          <a:blip r:embed="rId2"/>
          <a:srcRect t="39332" r="30490"/>
          <a:stretch>
            <a:fillRect/>
          </a:stretch>
        </p:blipFill>
        <p:spPr>
          <a:xfrm>
            <a:off x="2210252" y="2555463"/>
            <a:ext cx="7738419" cy="38087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Digital-twin progress overlay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50">
                <a:solidFill>
                  <a:srgbClr val="EF8354"/>
                </a:solidFill>
                <a:latin typeface="IBM Plex Sans"/>
              </a:rPr>
              <a:t>▪  </a:t>
            </a:r>
            <a:r>
              <a:rPr sz="1450">
                <a:solidFill>
                  <a:srgbClr val="E8E6E1"/>
                </a:solidFill>
                <a:latin typeface="IBM Plex Sans"/>
              </a:rPr>
              <a:t>Custom interactive 3D viewer (Three.js): the complete BIM shown as a ghost wireframe, with each stage's confirmed-built points solidified into a voxel cloud, in the same coordinate frame — so intended vs. actual align pixel-for-pixel.</a:t>
            </a:r>
          </a:p>
        </p:txBody>
      </p:sp>
      <p:pic>
        <p:nvPicPr>
          <p:cNvPr id="8" name="Picture 7" descr="overlay_uniform.png"/>
          <p:cNvPicPr>
            <a:picLocks noChangeAspect="1"/>
          </p:cNvPicPr>
          <p:nvPr/>
        </p:nvPicPr>
        <p:blipFill>
          <a:blip r:embed="rId2"/>
          <a:srcRect l="19487" t="13231" r="23248"/>
          <a:stretch>
            <a:fillRect/>
          </a:stretch>
        </p:blipFill>
        <p:spPr>
          <a:xfrm>
            <a:off x="466344" y="2587752"/>
            <a:ext cx="5038344" cy="3655638"/>
          </a:xfrm>
          <a:prstGeom prst="rect">
            <a:avLst/>
          </a:prstGeom>
        </p:spPr>
      </p:pic>
      <p:pic>
        <p:nvPicPr>
          <p:cNvPr id="9" name="Picture 8" descr="overlay_instance.png"/>
          <p:cNvPicPr>
            <a:picLocks noChangeAspect="1"/>
          </p:cNvPicPr>
          <p:nvPr/>
        </p:nvPicPr>
        <p:blipFill>
          <a:blip r:embed="rId3"/>
          <a:srcRect l="23931" t="16598" r="25299"/>
          <a:stretch>
            <a:fillRect/>
          </a:stretch>
        </p:blipFill>
        <p:spPr>
          <a:xfrm>
            <a:off x="6035040" y="2475058"/>
            <a:ext cx="4907585" cy="39195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What this prototype does not yet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Sim-to-real appearance gap is entirely bypassed — v1 replaced image-based detection with idealized point-to-BIM geometric matching. No camera-image realism, no clutter/scaffolding/workers modelled visually.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Ablation realism is a crude proxy: binary presence + height-clipping cannot represent every real half-built state (partial pours, rebar-only, etc.).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Single building typology — Schependomlaan is low-rise Dutch residential. Generalisation to other typologies is untested.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Class imbalance: only 23 columns and 174 beams vs. 879 walls — per-class metrics for the rare classes are noisy by nature of the dataset, not the method.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The classical segmentation baseline (Phase 4a) shows blind point-cloud segmentation is genuinely hard on repetitive coplanar structures — this motivates the registration-based approach, but means fully unsupervised detection hasn't been validated at scale.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>
                <a:solidFill>
                  <a:srgbClr val="EF8354"/>
                </a:solidFill>
                <a:latin typeface="IBM Plex Sans"/>
              </a:rPr>
              <a:t>▪  </a:t>
            </a:r>
            <a:r>
              <a:rPr sz="1500">
                <a:solidFill>
                  <a:srgbClr val="E8E6E1"/>
                </a:solidFill>
                <a:latin typeface="IBM Plex Sans"/>
              </a:rPr>
              <a:t>Comparison against the dataset's real weekly as-planned IFCs was ruled out early (0% GlobalId overlap) — all results here are on synthetic ground truth, not yet cross-checked against real drone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8354"/>
                </a:solidFill>
                <a:latin typeface="IBM Plex Mono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6E1"/>
                </a:solidFill>
                <a:latin typeface="IBM Plex Sans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0A8"/>
                </a:solidFill>
                <a:latin typeface="IBM Plex Mono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19050"/>
          </a:xfrm>
          <a:prstGeom prst="rect">
            <a:avLst/>
          </a:prstGeom>
          <a:solidFill>
            <a:srgbClr val="333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50">
                <a:solidFill>
                  <a:srgbClr val="EF8354"/>
                </a:solidFill>
                <a:latin typeface="IBM Plex Sans"/>
              </a:rPr>
              <a:t>▪  </a:t>
            </a:r>
            <a:r>
              <a:rPr sz="1550">
                <a:solidFill>
                  <a:srgbClr val="E8E6E1"/>
                </a:solidFill>
                <a:latin typeface="IBM Plex Sans"/>
              </a:rPr>
              <a:t>Phase 9 reality check: register Schependomlaan's real week-28 drone point cloud against the as-planned IFC, run the same scoring pipeline, compare against the dataset's own (non-ground-truth) comparison spreadsheet.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50">
                <a:solidFill>
                  <a:srgbClr val="EF8354"/>
                </a:solidFill>
                <a:latin typeface="IBM Plex Sans"/>
              </a:rPr>
              <a:t>▪  </a:t>
            </a:r>
            <a:r>
              <a:rPr sz="1550">
                <a:solidFill>
                  <a:srgbClr val="E8E6E1"/>
                </a:solidFill>
                <a:latin typeface="IBM Plex Sans"/>
              </a:rPr>
              <a:t>Second building typology, held out entirely, to support a genuine generalisation claim.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50">
                <a:solidFill>
                  <a:srgbClr val="EF8354"/>
                </a:solidFill>
                <a:latin typeface="IBM Plex Sans"/>
              </a:rPr>
              <a:t>▪  </a:t>
            </a:r>
            <a:r>
              <a:rPr sz="1550">
                <a:solidFill>
                  <a:srgbClr val="E8E6E1"/>
                </a:solidFill>
                <a:latin typeface="IBM Plex Sans"/>
              </a:rPr>
              <a:t>Compare camera trajectories (grid / perimeter / waypoint / adaptive) — currently a single fixed exterior-orbit + interior-walkthrough scheme.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50">
                <a:solidFill>
                  <a:srgbClr val="EF8354"/>
                </a:solidFill>
                <a:latin typeface="IBM Plex Sans"/>
              </a:rPr>
              <a:t>▪  </a:t>
            </a:r>
            <a:r>
              <a:rPr sz="1550">
                <a:solidFill>
                  <a:srgbClr val="E8E6E1"/>
                </a:solidFill>
                <a:latin typeface="IBM Plex Sans"/>
              </a:rPr>
              <a:t>Refine the “ever observable” heuristic that drives the uncertain-status exclusion, beyond the current 100%-stage proxy.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50">
                <a:solidFill>
                  <a:srgbClr val="EF8354"/>
                </a:solidFill>
                <a:latin typeface="IBM Plex Sans"/>
              </a:rPr>
              <a:t>▪  </a:t>
            </a:r>
            <a:r>
              <a:rPr sz="1550">
                <a:solidFill>
                  <a:srgbClr val="E8E6E1"/>
                </a:solidFill>
                <a:latin typeface="IBM Plex Sans"/>
              </a:rPr>
              <a:t>Revisit the image-based detection track (YOLOv8-seg on rendered RGB) as an explicit oracle-vs-learned comparison, to quantify the sim-to-real gap this prototype currently sidesteps.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BIM-Based Construction Progress Monitoring — Mid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0A8"/>
                </a:solidFill>
                <a:latin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6E1"/>
                </a:solidFill>
                <a:latin typeface="IBM Plex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AA0A8"/>
                </a:solidFill>
                <a:latin typeface="IBM Plex Sans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09728" cy="1097280"/>
          </a:xfrm>
          <a:prstGeom prst="rect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2024</Words>
  <Application>Microsoft Office PowerPoint</Application>
  <PresentationFormat>Widescreen</PresentationFormat>
  <Paragraphs>244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 bag</cp:lastModifiedBy>
  <cp:revision>2</cp:revision>
  <dcterms:created xsi:type="dcterms:W3CDTF">2013-01-27T09:14:16Z</dcterms:created>
  <dcterms:modified xsi:type="dcterms:W3CDTF">2026-09-16T14:59:05Z</dcterms:modified>
  <cp:category/>
</cp:coreProperties>
</file>